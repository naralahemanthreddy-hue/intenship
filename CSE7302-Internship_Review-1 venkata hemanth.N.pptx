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Skill Building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240CAC05-FF59-46A0-80A9-0F0BD27023B9}">
      <dgm:prSet custT="1"/>
      <dgm:spPr/>
      <dgm:t>
        <a:bodyPr/>
        <a:lstStyle/>
        <a:p>
          <a:pPr algn="l"/>
          <a:r>
            <a:rPr lang="en-IN" sz="1800" dirty="0"/>
            <a:t>On</a:t>
          </a:r>
        </a:p>
        <a:p>
          <a:pPr algn="l"/>
          <a:r>
            <a:rPr lang="en-IN" sz="1800" dirty="0"/>
            <a:t>boarding</a:t>
          </a:r>
        </a:p>
      </dgm:t>
    </dgm:pt>
    <dgm:pt modelId="{CD63B954-B98E-4856-AD04-F64308A13370}" type="parTrans" cxnId="{9039EC81-578A-4C19-A71F-3EBAC449507B}">
      <dgm:prSet/>
      <dgm:spPr/>
      <dgm:t>
        <a:bodyPr/>
        <a:lstStyle/>
        <a:p>
          <a:endParaRPr lang="en-IN"/>
        </a:p>
      </dgm:t>
    </dgm:pt>
    <dgm:pt modelId="{61464D7E-59DC-4E8C-9FA6-52AD5A848EA7}" type="sibTrans" cxnId="{9039EC81-578A-4C19-A71F-3EBAC449507B}">
      <dgm:prSet/>
      <dgm:spPr/>
      <dgm:t>
        <a:bodyPr/>
        <a:lstStyle/>
        <a:p>
          <a:endParaRPr lang="en-IN"/>
        </a:p>
      </dgm:t>
    </dgm:pt>
    <dgm:pt modelId="{114C4264-2930-49C5-8762-58F558CD6435}">
      <dgm:prSet/>
      <dgm:spPr/>
      <dgm:t>
        <a:bodyPr/>
        <a:lstStyle/>
        <a:p>
          <a:pPr algn="l"/>
          <a:r>
            <a:rPr lang="en-IN" dirty="0"/>
            <a:t>Application</a:t>
          </a:r>
        </a:p>
      </dgm:t>
    </dgm:pt>
    <dgm:pt modelId="{5ABFA216-6A79-4208-8163-37367FE205FD}" type="parTrans" cxnId="{ACAB062A-8690-4CAF-BD45-648909E07942}">
      <dgm:prSet/>
      <dgm:spPr/>
      <dgm:t>
        <a:bodyPr/>
        <a:lstStyle/>
        <a:p>
          <a:endParaRPr lang="en-IN"/>
        </a:p>
      </dgm:t>
    </dgm:pt>
    <dgm:pt modelId="{69634226-601C-4D4B-8942-3F93E2C23E8D}" type="sibTrans" cxnId="{ACAB062A-8690-4CAF-BD45-648909E07942}">
      <dgm:prSet/>
      <dgm:spPr/>
      <dgm:t>
        <a:bodyPr/>
        <a:lstStyle/>
        <a:p>
          <a:endParaRPr lang="en-IN"/>
        </a:p>
      </dgm:t>
    </dgm:pt>
    <dgm:pt modelId="{117AF51F-7BA9-4109-9A60-F9D6CD3EABE4}">
      <dgm:prSet/>
      <dgm:spPr/>
      <dgm:t>
        <a:bodyPr/>
        <a:lstStyle/>
        <a:p>
          <a:pPr algn="l"/>
          <a:r>
            <a:rPr lang="en-IN" dirty="0"/>
            <a:t>Completion </a:t>
          </a:r>
        </a:p>
        <a:p>
          <a:pPr algn="l"/>
          <a:r>
            <a:rPr lang="en-IN" dirty="0"/>
            <a:t>And Certificate</a:t>
          </a:r>
        </a:p>
      </dgm:t>
    </dgm:pt>
    <dgm:pt modelId="{567D4C04-BC17-41FA-AF12-2A22E634497F}" type="parTrans" cxnId="{1795D5BE-F19A-4D6E-A519-2168570C06BE}">
      <dgm:prSet/>
      <dgm:spPr/>
      <dgm:t>
        <a:bodyPr/>
        <a:lstStyle/>
        <a:p>
          <a:endParaRPr lang="en-IN"/>
        </a:p>
      </dgm:t>
    </dgm:pt>
    <dgm:pt modelId="{65B4E2D2-F007-4663-B95B-122B4F9B9237}" type="sibTrans" cxnId="{1795D5BE-F19A-4D6E-A519-2168570C06BE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76AF0E70-D7D3-4819-B3F1-21894C0FAF7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AF502DA5-4AC4-4592-89B4-3BE29ACCC460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7E0819ED-6A53-4D80-B236-B19CE1FBA770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34D6C715-75B7-4EF4-AAEB-0E78083C8112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03FDC85E-FAAE-4E57-8B29-3E3C933FFF75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5A55C2A-022D-49D6-A1AA-06D12AAEFA9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089FBB92-2EC0-4ED1-94C4-F524944F70D2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9B1C0905-DF99-400A-8EE0-6AA95C4A5610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907A71E-0A69-4FE4-9FCD-98E9A09D9C17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0E9C4B9B-83A4-43C3-A5FF-D7C17B79555B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BEC6C20A-AFCC-4E7A-A64B-2B32C9A73335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605505D-C103-4CB3-96C0-C27619FA4DFA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1718BA00-8DB9-460B-AFB4-17A3CA1561C9}" type="presOf" srcId="{9FED87C4-3F3B-4A18-9185-9F80CFEDEA2E}" destId="{BEC6C20A-AFCC-4E7A-A64B-2B32C9A73335}" srcOrd="0" destOrd="0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5447824-1621-47AD-A18F-0F8FBA19656A}" type="presOf" srcId="{117AF51F-7BA9-4109-9A60-F9D6CD3EABE4}" destId="{8CAE5A4D-0C7B-48A6-917B-0B8433D0574B}" srcOrd="0" destOrd="0" presId="urn:microsoft.com/office/officeart/2011/layout/InterconnectedBlockProcess"/>
    <dgm:cxn modelId="{ACAB062A-8690-4CAF-BD45-648909E07942}" srcId="{5E92505A-51E0-4F78-B3C5-704ACF8710DE}" destId="{114C4264-2930-49C5-8762-58F558CD6435}" srcOrd="0" destOrd="0" parTransId="{5ABFA216-6A79-4208-8163-37367FE205FD}" sibTransId="{69634226-601C-4D4B-8942-3F93E2C23E8D}"/>
    <dgm:cxn modelId="{118E502A-7729-4C8C-B62C-29AAFF543761}" type="presOf" srcId="{114C4264-2930-49C5-8762-58F558CD6435}" destId="{03FDC85E-FAAE-4E57-8B29-3E3C933FFF75}" srcOrd="1" destOrd="0" presId="urn:microsoft.com/office/officeart/2011/layout/InterconnectedBlockProcess"/>
    <dgm:cxn modelId="{C2851A2B-8F09-4C32-ACE0-FE8AEBDED410}" type="presOf" srcId="{A59EC69B-8F3F-425B-819F-E8C557946AEE}" destId="{1907A71E-0A69-4FE4-9FCD-98E9A09D9C17}" srcOrd="0" destOrd="0" presId="urn:microsoft.com/office/officeart/2011/layout/InterconnectedBlockProcess"/>
    <dgm:cxn modelId="{B3EA4969-9376-4230-832B-8C15062B4DB9}" type="presOf" srcId="{73DB572E-062D-41AD-8033-D361B8E583DB}" destId="{2532504F-5FE1-4C97-B485-F05E8885EACC}" srcOrd="1" destOrd="0" presId="urn:microsoft.com/office/officeart/2011/layout/InterconnectedBlockProcess"/>
    <dgm:cxn modelId="{A258744A-A4EB-4D73-9A10-7700CF22F43F}" type="presOf" srcId="{117AF51F-7BA9-4109-9A60-F9D6CD3EABE4}" destId="{AF502DA5-4AC4-4592-89B4-3BE29ACCC460}" srcOrd="1" destOrd="0" presId="urn:microsoft.com/office/officeart/2011/layout/InterconnectedBlockProcess"/>
    <dgm:cxn modelId="{677B244D-2CE3-469F-BD44-99150FFB018D}" type="presOf" srcId="{240CAC05-FF59-46A0-80A9-0F0BD27023B9}" destId="{1C91D7E3-8940-4A33-9182-677DD5415901}" srcOrd="1" destOrd="0" presId="urn:microsoft.com/office/officeart/2011/layout/InterconnectedBlockProcess"/>
    <dgm:cxn modelId="{B108724D-302B-4051-967D-796EB0E47C6A}" type="presOf" srcId="{5E92505A-51E0-4F78-B3C5-704ACF8710DE}" destId="{05A55C2A-022D-49D6-A1AA-06D12AAEFA93}" srcOrd="0" destOrd="0" presId="urn:microsoft.com/office/officeart/2011/layout/InterconnectedBlockProcess"/>
    <dgm:cxn modelId="{F6436D50-6CA3-47DD-ADE5-814EEFADED3A}" type="presOf" srcId="{988D96B0-D16E-4763-B393-84178CF4FF50}" destId="{65257024-FAC0-4522-B139-1CC85B547BE8}" srcOrd="0" destOrd="0" presId="urn:microsoft.com/office/officeart/2011/layout/InterconnectedBlockProcess"/>
    <dgm:cxn modelId="{1E3FAD50-C8C1-4DBA-8218-0578DC5B89D3}" type="presOf" srcId="{114C4264-2930-49C5-8762-58F558CD6435}" destId="{FC0F1314-3294-4A8C-8DCE-EB53E236164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D0B23E7D-34E1-4C01-922D-3130AD6B34FB}" type="presOf" srcId="{7B3055AA-BF7C-46D0-9A9E-60087B9F57B4}" destId="{2605505D-C103-4CB3-96C0-C27619FA4DFA}" srcOrd="0" destOrd="0" presId="urn:microsoft.com/office/officeart/2011/layout/InterconnectedBlockProcess"/>
    <dgm:cxn modelId="{9039EC81-578A-4C19-A71F-3EBAC449507B}" srcId="{988D96B0-D16E-4763-B393-84178CF4FF50}" destId="{240CAC05-FF59-46A0-80A9-0F0BD27023B9}" srcOrd="0" destOrd="0" parTransId="{CD63B954-B98E-4856-AD04-F64308A13370}" sibTransId="{61464D7E-59DC-4E8C-9FA6-52AD5A848EA7}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812BEEB6-49B4-48C6-817F-BEF2D903B90C}" type="presOf" srcId="{65C051F6-A849-4495-A964-CD4C650B9C06}" destId="{7E0819ED-6A53-4D80-B236-B19CE1FBA770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523C77BE-C099-4474-84F0-93E210E20B54}" type="presOf" srcId="{73DB572E-062D-41AD-8033-D361B8E583DB}" destId="{9B1C0905-DF99-400A-8EE0-6AA95C4A5610}" srcOrd="0" destOrd="0" presId="urn:microsoft.com/office/officeart/2011/layout/InterconnectedBlockProcess"/>
    <dgm:cxn modelId="{1795D5BE-F19A-4D6E-A519-2168570C06BE}" srcId="{65C051F6-A849-4495-A964-CD4C650B9C06}" destId="{117AF51F-7BA9-4109-9A60-F9D6CD3EABE4}" srcOrd="0" destOrd="0" parTransId="{567D4C04-BC17-41FA-AF12-2A22E634497F}" sibTransId="{65B4E2D2-F007-4663-B95B-122B4F9B9237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4EFA64D0-C963-47BF-AA0D-07E96BD640BF}" type="presOf" srcId="{240CAC05-FF59-46A0-80A9-0F0BD27023B9}" destId="{A134CDD1-D85F-44EF-8BEE-9F99A855C1E6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C0EEEDF1-88FA-4CF2-90B0-9D1D2A027962}" type="presOf" srcId="{9FED87C4-3F3B-4A18-9185-9F80CFEDEA2E}" destId="{06F8D57B-EDF4-4CF4-8700-DC2CA3E3028E}" srcOrd="1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F65D4CB2-4250-4807-B542-DEB736E0056A}" type="presParOf" srcId="{A6BCDA7B-D633-438F-B44D-CB4D60E5C492}" destId="{76AF0E70-D7D3-4819-B3F1-21894C0FAF7B}" srcOrd="0" destOrd="0" presId="urn:microsoft.com/office/officeart/2011/layout/InterconnectedBlockProcess"/>
    <dgm:cxn modelId="{A2BE0FAF-CD4A-434D-B381-2A714B4FB822}" type="presParOf" srcId="{76AF0E70-D7D3-4819-B3F1-21894C0FAF7B}" destId="{8CAE5A4D-0C7B-48A6-917B-0B8433D0574B}" srcOrd="0" destOrd="0" presId="urn:microsoft.com/office/officeart/2011/layout/InterconnectedBlockProcess"/>
    <dgm:cxn modelId="{6236CE41-FD95-47D6-8AA6-83F1CDF2A407}" type="presParOf" srcId="{A6BCDA7B-D633-438F-B44D-CB4D60E5C492}" destId="{AF502DA5-4AC4-4592-89B4-3BE29ACCC460}" srcOrd="1" destOrd="0" presId="urn:microsoft.com/office/officeart/2011/layout/InterconnectedBlockProcess"/>
    <dgm:cxn modelId="{00392608-07F3-42A3-8AD6-D9FF2DAC5FE4}" type="presParOf" srcId="{A6BCDA7B-D633-438F-B44D-CB4D60E5C492}" destId="{7E0819ED-6A53-4D80-B236-B19CE1FBA770}" srcOrd="2" destOrd="0" presId="urn:microsoft.com/office/officeart/2011/layout/InterconnectedBlockProcess"/>
    <dgm:cxn modelId="{BD3CF5B8-E233-488E-85CB-9FD45D392DA0}" type="presParOf" srcId="{A6BCDA7B-D633-438F-B44D-CB4D60E5C492}" destId="{34D6C715-75B7-4EF4-AAEB-0E78083C8112}" srcOrd="3" destOrd="0" presId="urn:microsoft.com/office/officeart/2011/layout/InterconnectedBlockProcess"/>
    <dgm:cxn modelId="{236F517D-EF60-4692-8813-C4A81E84F450}" type="presParOf" srcId="{34D6C715-75B7-4EF4-AAEB-0E78083C8112}" destId="{FC0F1314-3294-4A8C-8DCE-EB53E236164C}" srcOrd="0" destOrd="0" presId="urn:microsoft.com/office/officeart/2011/layout/InterconnectedBlockProcess"/>
    <dgm:cxn modelId="{47937CE1-4012-4A6F-9FA6-21954F96B3EB}" type="presParOf" srcId="{A6BCDA7B-D633-438F-B44D-CB4D60E5C492}" destId="{03FDC85E-FAAE-4E57-8B29-3E3C933FFF75}" srcOrd="4" destOrd="0" presId="urn:microsoft.com/office/officeart/2011/layout/InterconnectedBlockProcess"/>
    <dgm:cxn modelId="{9BB3B7E6-615E-40DC-B819-72EE91A37F49}" type="presParOf" srcId="{A6BCDA7B-D633-438F-B44D-CB4D60E5C492}" destId="{05A55C2A-022D-49D6-A1AA-06D12AAEFA93}" srcOrd="5" destOrd="0" presId="urn:microsoft.com/office/officeart/2011/layout/InterconnectedBlockProcess"/>
    <dgm:cxn modelId="{158AC027-9445-475A-8899-84DE01C2E74C}" type="presParOf" srcId="{A6BCDA7B-D633-438F-B44D-CB4D60E5C492}" destId="{089FBB92-2EC0-4ED1-94C4-F524944F70D2}" srcOrd="6" destOrd="0" presId="urn:microsoft.com/office/officeart/2011/layout/InterconnectedBlockProcess"/>
    <dgm:cxn modelId="{B79AFC5F-2595-43E3-8B72-053334944E22}" type="presParOf" srcId="{089FBB92-2EC0-4ED1-94C4-F524944F70D2}" destId="{2532504F-5FE1-4C97-B485-F05E8885EACC}" srcOrd="0" destOrd="0" presId="urn:microsoft.com/office/officeart/2011/layout/InterconnectedBlockProcess"/>
    <dgm:cxn modelId="{12BD3272-44D9-40AE-82FC-F26A1D2AB036}" type="presParOf" srcId="{A6BCDA7B-D633-438F-B44D-CB4D60E5C492}" destId="{9B1C0905-DF99-400A-8EE0-6AA95C4A5610}" srcOrd="7" destOrd="0" presId="urn:microsoft.com/office/officeart/2011/layout/InterconnectedBlockProcess"/>
    <dgm:cxn modelId="{BBBCD4FD-9C35-426C-90E5-9ADDF1FA9EFE}" type="presParOf" srcId="{A6BCDA7B-D633-438F-B44D-CB4D60E5C492}" destId="{1907A71E-0A69-4FE4-9FCD-98E9A09D9C17}" srcOrd="8" destOrd="0" presId="urn:microsoft.com/office/officeart/2011/layout/InterconnectedBlockProcess"/>
    <dgm:cxn modelId="{F747E44F-CF26-472D-A9B9-17330AC20054}" type="presParOf" srcId="{A6BCDA7B-D633-438F-B44D-CB4D60E5C492}" destId="{0E9C4B9B-83A4-43C3-A5FF-D7C17B79555B}" srcOrd="9" destOrd="0" presId="urn:microsoft.com/office/officeart/2011/layout/InterconnectedBlockProcess"/>
    <dgm:cxn modelId="{C561FE94-DEC3-43BC-A9B3-FD3F32FE853F}" type="presParOf" srcId="{0E9C4B9B-83A4-43C3-A5FF-D7C17B79555B}" destId="{06F8D57B-EDF4-4CF4-8700-DC2CA3E3028E}" srcOrd="0" destOrd="0" presId="urn:microsoft.com/office/officeart/2011/layout/InterconnectedBlockProcess"/>
    <dgm:cxn modelId="{459E8F20-D7B1-4A12-8412-AD3D6EBB8CD2}" type="presParOf" srcId="{A6BCDA7B-D633-438F-B44D-CB4D60E5C492}" destId="{BEC6C20A-AFCC-4E7A-A64B-2B32C9A73335}" srcOrd="10" destOrd="0" presId="urn:microsoft.com/office/officeart/2011/layout/InterconnectedBlockProcess"/>
    <dgm:cxn modelId="{6B8FA00B-EE8F-4A18-923B-BCADF3B442B5}" type="presParOf" srcId="{A6BCDA7B-D633-438F-B44D-CB4D60E5C492}" destId="{2605505D-C103-4CB3-96C0-C27619FA4DFA}" srcOrd="11" destOrd="0" presId="urn:microsoft.com/office/officeart/2011/layout/InterconnectedBlockProcess"/>
    <dgm:cxn modelId="{FE7356AE-F768-4363-9E03-52BD1A50E91A}" type="presParOf" srcId="{A6BCDA7B-D633-438F-B44D-CB4D60E5C492}" destId="{7305DF14-0FF5-45E4-8B19-015814092DBD}" srcOrd="12" destOrd="0" presId="urn:microsoft.com/office/officeart/2011/layout/InterconnectedBlockProcess"/>
    <dgm:cxn modelId="{B0A6346D-119C-4F59-91D8-40E8FF572983}" type="presParOf" srcId="{7305DF14-0FF5-45E4-8B19-015814092DBD}" destId="{A134CDD1-D85F-44EF-8BEE-9F99A855C1E6}" srcOrd="0" destOrd="0" presId="urn:microsoft.com/office/officeart/2011/layout/InterconnectedBlockProcess"/>
    <dgm:cxn modelId="{D6169BFB-6E79-4E82-8F69-997189A44DA7}" type="presParOf" srcId="{A6BCDA7B-D633-438F-B44D-CB4D60E5C492}" destId="{1C91D7E3-8940-4A33-9182-677DD5415901}" srcOrd="13" destOrd="0" presId="urn:microsoft.com/office/officeart/2011/layout/InterconnectedBlockProcess"/>
    <dgm:cxn modelId="{DD9DC1FB-9BC7-4EAB-AEF1-9E6A332201B3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Completion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And Certificate</a:t>
          </a:r>
        </a:p>
      </dsp:txBody>
      <dsp:txXfrm>
        <a:off x="7335949" y="811639"/>
        <a:ext cx="1116055" cy="3246556"/>
      </dsp:txXfrm>
    </dsp:sp>
    <dsp:sp modelId="{7E0819ED-6A53-4D80-B236-B19CE1FBA770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Application</a:t>
          </a:r>
        </a:p>
      </dsp:txBody>
      <dsp:txXfrm>
        <a:off x="6060823" y="811639"/>
        <a:ext cx="1116055" cy="3043646"/>
      </dsp:txXfrm>
    </dsp:sp>
    <dsp:sp modelId="{05A55C2A-022D-49D6-A1AA-06D12AAEFA9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Skill Building</a:t>
          </a:r>
        </a:p>
      </dsp:txBody>
      <dsp:txXfrm>
        <a:off x="4782502" y="811639"/>
        <a:ext cx="1116055" cy="2840736"/>
      </dsp:txXfrm>
    </dsp:sp>
    <dsp:sp modelId="{1907A71E-0A69-4FE4-9FCD-98E9A09D9C17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Training</a:t>
          </a:r>
        </a:p>
      </dsp:txBody>
      <dsp:txXfrm>
        <a:off x="3504181" y="811639"/>
        <a:ext cx="1116055" cy="2637826"/>
      </dsp:txXfrm>
    </dsp:sp>
    <dsp:sp modelId="{2605505D-C103-4CB3-96C0-C27619FA4DFA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boarding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</a:t>
            </a:r>
            <a:r>
              <a:rPr lang="en-GB" sz="17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Thabassum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Khan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rgbClr val="000000"/>
                </a:solidFill>
              </a:rPr>
              <a:t>B.tech</a:t>
            </a:r>
            <a:r>
              <a:rPr lang="en-US" sz="2000" b="1" dirty="0">
                <a:solidFill>
                  <a:srgbClr val="000000"/>
                </a:solidFill>
              </a:rPr>
              <a:t> Computer Science and Technology (Big Data)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solidFill>
                  <a:srgbClr val="000000"/>
                </a:solidFill>
              </a:rPr>
              <a:t>Dr. </a:t>
            </a:r>
            <a:r>
              <a:rPr lang="en-IN" sz="2000" b="1" dirty="0" err="1">
                <a:solidFill>
                  <a:srgbClr val="000000"/>
                </a:solidFill>
              </a:rPr>
              <a:t>Pravinth</a:t>
            </a:r>
            <a:r>
              <a:rPr lang="en-IN" sz="2000" b="1" dirty="0">
                <a:solidFill>
                  <a:srgbClr val="000000"/>
                </a:solidFill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IN" sz="2000" b="1" dirty="0">
                <a:solidFill>
                  <a:srgbClr val="000000"/>
                </a:solidFill>
              </a:rPr>
              <a:t>Ms. Nisha Robin Rohit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3166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VENKATA HEMANTH.N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20221CBD0007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08CBD-01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55" y="1147666"/>
            <a:ext cx="10515600" cy="4295814"/>
          </a:xfrm>
        </p:spPr>
        <p:txBody>
          <a:bodyPr>
            <a:normAutofit/>
          </a:bodyPr>
          <a:lstStyle/>
          <a:p>
            <a:r>
              <a:rPr lang="en-US" sz="2400" b="1" dirty="0"/>
              <a:t>Rittal India Private Limited</a:t>
            </a:r>
            <a:r>
              <a:rPr lang="en-US" sz="2400" dirty="0"/>
              <a:t> is a leading company that provides </a:t>
            </a:r>
            <a:r>
              <a:rPr lang="en-US" sz="2400" b="1" dirty="0"/>
              <a:t>industrial and IT infrastructure solutions</a:t>
            </a:r>
            <a:r>
              <a:rPr lang="en-US" sz="2400" dirty="0"/>
              <a:t>, specializing in </a:t>
            </a:r>
            <a:r>
              <a:rPr lang="en-US" sz="2400" b="1" dirty="0"/>
              <a:t>enclosure systems, power distribution, thermal management, and data center solutions</a:t>
            </a:r>
            <a:r>
              <a:rPr lang="en-US" sz="2400" dirty="0"/>
              <a:t>. It is a subsidiary of </a:t>
            </a:r>
            <a:r>
              <a:rPr lang="en-US" sz="2400" b="1" dirty="0"/>
              <a:t>Rittal GmbH &amp; Co. KG, Germany</a:t>
            </a:r>
            <a:r>
              <a:rPr lang="en-US" sz="2400" dirty="0"/>
              <a:t>, part of the </a:t>
            </a:r>
            <a:r>
              <a:rPr lang="en-US" sz="2400" b="1" dirty="0"/>
              <a:t>Friedhelm Loh Group</a:t>
            </a:r>
            <a:r>
              <a:rPr lang="en-US" sz="2400" dirty="0"/>
              <a:t>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sz="2400" dirty="0"/>
              <a:t>Subsidiary of </a:t>
            </a:r>
            <a:r>
              <a:rPr lang="en-US" sz="2400" b="1" dirty="0"/>
              <a:t>Rittal GmbH &amp; Co. KG, Germany</a:t>
            </a:r>
            <a:endParaRPr lang="en-US" sz="2400" dirty="0"/>
          </a:p>
          <a:p>
            <a:r>
              <a:rPr lang="en-US" sz="2400" dirty="0"/>
              <a:t>Established in </a:t>
            </a:r>
            <a:r>
              <a:rPr lang="en-US" sz="2400" b="1" dirty="0"/>
              <a:t>India in 1996</a:t>
            </a:r>
          </a:p>
          <a:p>
            <a:r>
              <a:rPr lang="en-US" sz="2400" dirty="0"/>
              <a:t>Provides </a:t>
            </a:r>
            <a:r>
              <a:rPr lang="en-US" sz="2400" b="1" dirty="0"/>
              <a:t>industrial and IT infrastructure solutions</a:t>
            </a:r>
          </a:p>
          <a:p>
            <a:r>
              <a:rPr lang="en-US" sz="2400" dirty="0"/>
              <a:t>Major products include </a:t>
            </a:r>
            <a:r>
              <a:rPr lang="en-US" sz="2400" b="1" dirty="0"/>
              <a:t>enclosures, cooling systems, power distribution, and IT infrastructure</a:t>
            </a:r>
            <a:endParaRPr lang="en-US" sz="2400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93C8754-5D4E-D90B-BBF4-F755C9C5D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308" y="3296268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B811-8BEF-7BBE-EA39-DED3F278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3048-B004-C8D3-896D-182C72D09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8841"/>
            <a:ext cx="10515600" cy="4488122"/>
          </a:xfrm>
        </p:spPr>
        <p:txBody>
          <a:bodyPr/>
          <a:lstStyle/>
          <a:p>
            <a:r>
              <a:rPr lang="en-US" sz="2400" dirty="0"/>
              <a:t>Rittal India offers a wide range of </a:t>
            </a:r>
            <a:r>
              <a:rPr lang="en-US" sz="2400" b="1" dirty="0"/>
              <a:t>advanced infrastructure products</a:t>
            </a:r>
            <a:r>
              <a:rPr lang="en-US" sz="2400" dirty="0"/>
              <a:t>, including:</a:t>
            </a:r>
          </a:p>
          <a:p>
            <a:r>
              <a:rPr lang="en-US" sz="2400" b="1" dirty="0"/>
              <a:t>Industrial Enclosures &amp; Cabinets</a:t>
            </a:r>
            <a:endParaRPr lang="en-US" sz="2400" dirty="0"/>
          </a:p>
          <a:p>
            <a:r>
              <a:rPr lang="en-US" sz="2400" b="1" dirty="0"/>
              <a:t>Power Distribution Systems</a:t>
            </a:r>
            <a:endParaRPr lang="en-US" sz="2400" dirty="0"/>
          </a:p>
          <a:p>
            <a:r>
              <a:rPr lang="en-US" sz="2400" b="1" dirty="0"/>
              <a:t>Thermal Management &amp; Cooling Solutions</a:t>
            </a:r>
            <a:endParaRPr lang="en-US" sz="2400" dirty="0"/>
          </a:p>
          <a:p>
            <a:r>
              <a:rPr lang="en-US" sz="2400" b="1" dirty="0"/>
              <a:t>IT Infrastructure &amp; Data Center Solutions</a:t>
            </a:r>
            <a:endParaRPr lang="en-US" sz="2400" dirty="0"/>
          </a:p>
          <a:p>
            <a:r>
              <a:rPr lang="en-US" sz="2400" b="1" dirty="0"/>
              <a:t>Automation and Control Panel Systems</a:t>
            </a:r>
            <a:endParaRPr lang="en-US" sz="24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B5B08-5C93-7A3D-CC8C-4D82BB1A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23-02-2026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1E7D8-EB7C-E424-F5DA-DC06DF04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97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Domain:</a:t>
            </a:r>
            <a:r>
              <a:rPr lang="en-US" sz="2400" dirty="0"/>
              <a:t> Research &amp; Development (R&amp;D)</a:t>
            </a:r>
          </a:p>
          <a:p>
            <a:pPr marL="0" indent="0">
              <a:buNone/>
            </a:pPr>
            <a:br>
              <a:rPr lang="en-US" sz="2400" dirty="0"/>
            </a:br>
            <a:r>
              <a:rPr lang="en-US" sz="2400" b="1" dirty="0"/>
              <a:t>Role:</a:t>
            </a:r>
            <a:r>
              <a:rPr lang="en-US" sz="2400" dirty="0"/>
              <a:t> Embedded Software Developer Intern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Working as a </a:t>
            </a:r>
            <a:r>
              <a:rPr lang="en-US" sz="2400" b="1" dirty="0"/>
              <a:t>Software Developer Intern</a:t>
            </a:r>
            <a:r>
              <a:rPr lang="en-US" sz="2400" dirty="0"/>
              <a:t> in the </a:t>
            </a:r>
            <a:r>
              <a:rPr lang="en-US" sz="2400" b="1" dirty="0"/>
              <a:t>R&amp;D (Embedded Systems) domain</a:t>
            </a:r>
          </a:p>
          <a:p>
            <a:r>
              <a:rPr lang="en-US" sz="2400" dirty="0"/>
              <a:t>Currently in the </a:t>
            </a:r>
            <a:r>
              <a:rPr lang="en-US" sz="2400" b="1" dirty="0"/>
              <a:t>onboarding and learning phase</a:t>
            </a:r>
            <a:r>
              <a:rPr lang="en-US" sz="2400" dirty="0"/>
              <a:t>, understanding tools, workflows, and systems</a:t>
            </a:r>
          </a:p>
          <a:p>
            <a:r>
              <a:rPr lang="en-US" sz="2400" dirty="0"/>
              <a:t>Learning </a:t>
            </a:r>
            <a:r>
              <a:rPr lang="en-US" sz="2400" b="1" dirty="0"/>
              <a:t>embedded software development</a:t>
            </a:r>
            <a:r>
              <a:rPr lang="en-US" sz="2400" dirty="0"/>
              <a:t> using </a:t>
            </a:r>
            <a:r>
              <a:rPr lang="en-US" sz="2400" b="1" dirty="0"/>
              <a:t>Embedded C/C++</a:t>
            </a:r>
          </a:p>
          <a:p>
            <a:r>
              <a:rPr lang="en-US" sz="2400" dirty="0"/>
              <a:t>Gaining exposure to </a:t>
            </a:r>
            <a:r>
              <a:rPr lang="en-US" sz="2400" b="1" dirty="0"/>
              <a:t>hardware–software integration and real-time systems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159" y="365126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3100" b="1" dirty="0"/>
              <a:t>Team Size:</a:t>
            </a:r>
            <a:r>
              <a:rPr lang="en-US" sz="3100" dirty="0"/>
              <a:t> 1 member</a:t>
            </a:r>
          </a:p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sz="3100" dirty="0"/>
          </a:p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3100" b="1" dirty="0"/>
              <a:t>Team Composition:</a:t>
            </a:r>
            <a:r>
              <a:rPr lang="en-US" sz="3100" dirty="0"/>
              <a:t> Research &amp; Development (R&amp;D) undergoing training in</a:t>
            </a:r>
            <a:r>
              <a:rPr lang="en-US" sz="3100" b="1" dirty="0"/>
              <a:t> :</a:t>
            </a:r>
            <a:r>
              <a:rPr lang="en-US" sz="3100" dirty="0"/>
              <a:t> Embedded Software Developer Intern</a:t>
            </a:r>
          </a:p>
          <a:p>
            <a:pPr marL="0" indent="0">
              <a:buNone/>
            </a:pPr>
            <a:r>
              <a:rPr lang="en-US" sz="3100" b="1" dirty="0"/>
              <a:t>Current Activity:</a:t>
            </a:r>
            <a:r>
              <a:rPr lang="en-US" sz="3100" dirty="0"/>
              <a:t> </a:t>
            </a:r>
          </a:p>
          <a:p>
            <a:r>
              <a:rPr lang="en-US" sz="3100" dirty="0"/>
              <a:t>Learning how to develop web Application using HTML5, CSS and JAVASCRIPT for frontend.</a:t>
            </a:r>
            <a:br>
              <a:rPr lang="en-US" sz="3100" dirty="0"/>
            </a:br>
            <a:r>
              <a:rPr lang="en-US" sz="3100" dirty="0"/>
              <a:t>Learning how REST API works .</a:t>
            </a:r>
            <a:br>
              <a:rPr lang="en-US" sz="3100" dirty="0"/>
            </a:br>
            <a:r>
              <a:rPr lang="en-US" sz="3100" dirty="0"/>
              <a:t>Learning how to create </a:t>
            </a:r>
            <a:r>
              <a:rPr lang="en-US" sz="3100" dirty="0" err="1"/>
              <a:t>json</a:t>
            </a:r>
            <a:r>
              <a:rPr lang="en-US" sz="3100" dirty="0"/>
              <a:t> </a:t>
            </a:r>
            <a:r>
              <a:rPr lang="en-US" sz="3100"/>
              <a:t>format database file.</a:t>
            </a:r>
            <a:endParaRPr lang="en-US" sz="3100" dirty="0"/>
          </a:p>
          <a:p>
            <a:pPr marL="0" indent="0" defTabSz="306324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943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3100" b="1" dirty="0"/>
              <a:t>Reporting:</a:t>
            </a:r>
            <a:r>
              <a:rPr lang="en-US" sz="3100" dirty="0"/>
              <a:t> Guided by an Internship Mentor for progress reviews and learning assessments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C64CD-2F1C-D8CA-4EFC-7F3CDA74EA9E}"/>
              </a:ext>
            </a:extLst>
          </p:cNvPr>
          <p:cNvSpPr txBox="1"/>
          <p:nvPr/>
        </p:nvSpPr>
        <p:spPr>
          <a:xfrm>
            <a:off x="838200" y="1292273"/>
            <a:ext cx="705549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Finding a suitable </a:t>
            </a:r>
            <a:r>
              <a:rPr lang="en-US" sz="2400" b="1" dirty="0"/>
              <a:t>internship opportunity</a:t>
            </a:r>
            <a:r>
              <a:rPr lang="en-US" sz="2400" dirty="0"/>
              <a:t> in a competitive job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Preparing for and </a:t>
            </a:r>
            <a:r>
              <a:rPr lang="en-US" sz="2400" b="1" dirty="0"/>
              <a:t>cracking the interview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Understanding </a:t>
            </a:r>
            <a:r>
              <a:rPr lang="en-US" sz="2400" b="1" dirty="0"/>
              <a:t>company work culture and processes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Getting </a:t>
            </a:r>
            <a:r>
              <a:rPr lang="en-US" sz="2400" b="1" dirty="0"/>
              <a:t>adjusted to the team and professional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Learning </a:t>
            </a:r>
            <a:r>
              <a:rPr lang="en-US" sz="2400" b="1" dirty="0"/>
              <a:t>new technical concepts</a:t>
            </a:r>
            <a:r>
              <a:rPr lang="en-US" sz="2400" dirty="0"/>
              <a:t> such as DLC systems and embedded technologies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To gain </a:t>
            </a:r>
            <a:r>
              <a:rPr lang="en-US" sz="2400" b="1" dirty="0"/>
              <a:t>practical exposure to industrial technologies</a:t>
            </a:r>
            <a:r>
              <a:rPr lang="en-US" sz="2400" dirty="0"/>
              <a:t> and R&amp;D activities</a:t>
            </a:r>
          </a:p>
          <a:p>
            <a:r>
              <a:rPr lang="en-US" sz="2400" dirty="0"/>
              <a:t>To support ongoing work through </a:t>
            </a:r>
            <a:r>
              <a:rPr lang="en-US" sz="2400" b="1" dirty="0"/>
              <a:t>documentation, analysis, and learning-based contributions</a:t>
            </a:r>
          </a:p>
          <a:p>
            <a:r>
              <a:rPr lang="en-US" sz="2400" dirty="0"/>
              <a:t>To develop </a:t>
            </a:r>
            <a:r>
              <a:rPr lang="en-US" sz="2400" b="1" dirty="0"/>
              <a:t>technical, organizational, and professional skills</a:t>
            </a:r>
            <a:endParaRPr lang="en-US" sz="2400" dirty="0"/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1629387"/>
              </p:ext>
            </p:extLst>
          </p:nvPr>
        </p:nvGraphicFramePr>
        <p:xfrm>
          <a:off x="838200" y="1191830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https://github.com/naralahemanthreddy-hue/final-year-internship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8142</TotalTime>
  <Words>552</Words>
  <Application>Microsoft Office PowerPoint</Application>
  <PresentationFormat>Widescreen</PresentationFormat>
  <Paragraphs>96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Contents</vt:lpstr>
      <vt:lpstr>About Company or Organization</vt:lpstr>
      <vt:lpstr>Products &amp; Solutions</vt:lpstr>
      <vt:lpstr>Working domain</vt:lpstr>
      <vt:lpstr>About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venkata hemanth.N</cp:lastModifiedBy>
  <cp:revision>722</cp:revision>
  <dcterms:created xsi:type="dcterms:W3CDTF">2022-10-14T07:18:17Z</dcterms:created>
  <dcterms:modified xsi:type="dcterms:W3CDTF">2026-02-23T04:01:21Z</dcterms:modified>
</cp:coreProperties>
</file>